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Prestación</c:v>
                  </c:pt>
                  <c:pt idx="1">
                    <c:v>Salud Pública</c:v>
                  </c:pt>
                  <c:pt idx="2">
                    <c:v>Planeación</c:v>
                  </c:pt>
                  <c:pt idx="3">
                    <c:v>Aseguramiento</c:v>
                  </c:pt>
                  <c:pt idx="4">
                    <c:v>Emergencias</c:v>
                  </c:pt>
                  <c:pt idx="5">
                    <c:v>Despacho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</c:v>
                </c:pt>
                <c:pt idx="1">
                  <c:v>61</c:v>
                </c:pt>
                <c:pt idx="2">
                  <c:v>66</c:v>
                </c:pt>
                <c:pt idx="3">
                  <c:v>70</c:v>
                </c:pt>
                <c:pt idx="4">
                  <c:v>74</c:v>
                </c:pt>
                <c:pt idx="5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Planeado</c:v>
                </c:pt>
              </c:strCache>
            </c:strRef>
          </c:tx>
          <c:spPr>
            <a:solidFill>
              <a:srgbClr val="3A5A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Prestación</c:v>
                  </c:pt>
                  <c:pt idx="1">
                    <c:v>Salud Pública</c:v>
                  </c:pt>
                  <c:pt idx="2">
                    <c:v>Planeación</c:v>
                  </c:pt>
                  <c:pt idx="3">
                    <c:v>Aseguramiento</c:v>
                  </c:pt>
                  <c:pt idx="4">
                    <c:v>Emergencias</c:v>
                  </c:pt>
                  <c:pt idx="5">
                    <c:v>Despacho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66</c:v>
                </c:pt>
                <c:pt idx="1">
                  <c:v>66</c:v>
                </c:pt>
                <c:pt idx="2">
                  <c:v>66</c:v>
                </c:pt>
                <c:pt idx="3">
                  <c:v>66</c:v>
                </c:pt>
                <c:pt idx="4">
                  <c:v>66</c:v>
                </c:pt>
                <c:pt idx="5">
                  <c:v>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A4A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9BC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ADCFC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Planeado</c:v>
                </c:pt>
              </c:strCache>
            </c:strRef>
          </c:tx>
          <c:spPr>
            <a:solidFill>
              <a:srgbClr val="CADCFC"/>
            </a:solidFill>
            <a:ln w="3175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6</c:v>
                </c:pt>
                <c:pt idx="2">
                  <c:v>12</c:v>
                </c:pt>
                <c:pt idx="3">
                  <c:v>20</c:v>
                </c:pt>
                <c:pt idx="4">
                  <c:v>30</c:v>
                </c:pt>
                <c:pt idx="5">
                  <c:v>40</c:v>
                </c:pt>
                <c:pt idx="6">
                  <c:v>50</c:v>
                </c:pt>
                <c:pt idx="7">
                  <c:v>60</c:v>
                </c:pt>
                <c:pt idx="8">
                  <c:v>72</c:v>
                </c:pt>
                <c:pt idx="9">
                  <c:v>86</c:v>
                </c:pt>
                <c:pt idx="10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E5FD9"/>
            </a:solidFill>
            <a:ln w="31750" cap="flat">
              <a:solidFill>
                <a:srgbClr val="1E5FD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5FD9"/>
              </a:solidFill>
              <a:ln w="9525" cap="flat">
                <a:solidFill>
                  <a:srgbClr val="1E5FD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</c:v>
                </c:pt>
                <c:pt idx="1">
                  <c:v>4</c:v>
                </c:pt>
                <c:pt idx="2">
                  <c:v>9</c:v>
                </c:pt>
                <c:pt idx="3">
                  <c:v>16</c:v>
                </c:pt>
                <c:pt idx="4">
                  <c:v>27</c:v>
                </c:pt>
                <c:pt idx="5">
                  <c:v>38</c:v>
                </c:pt>
                <c:pt idx="6">
                  <c:v>46</c:v>
                </c:pt>
                <c:pt idx="7">
                  <c:v>55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EF2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B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5C6B8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de la sesión: que cada líder salga sabiendo qué va a hacer en el sistema cada mes y cada semana, y qué va a ver la Secretaria. No es una sesión técnica. Duración: 30 minutos más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datos vienen del Excel real del PAS: 276 metas, ninguna con responsable asignado, 87 sin componente. Pedir a los líderes que confirmen el diagnóstico.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lámina más importante para los líderes. La meta es la fila del Excel que ya conocen. La tarea es nueva: es la agenda de trabajo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para explicar: si el equipo cerró todas sus tareas pero solo se hicieron 9 de 12 jornadas, la meta va en 75 %, no en 100 %. Terminar tareas no es lo mismo que cumplir la meta.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el 'responsable de la meta' no es un rol: es a quien el líder de área le asigna la meta. Normalmente el líder de componente. Hoy ninguna de las 276 metas tiene responsable: esa es la primera tarea de los líderes.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corte al 30 de noviembre solo quedan tres reportes por meta: septiembre, octubre y noviembre. La historia de enero a agosto se carga desde el Excel. Explicar que el líder de área puede corregir cualquier mes, con justificación, y que todo queda en la bitácora.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a los líderes que la primera semana carguen de 3 a 5 tareas por meta con las fechas del trimestre; el resto se agrega sobre la marcha. No hay aprobación previa para cerrar: cerrar es inmediato y el líder revisa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en la sesión quién será el asistente del Despacho. La Secretaria conserva su propio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ilustrativas. Insistir en tres cosas: todo número se puede abrir hasta llegar a la meta o la tarea; el mismo tablero lo ve cada líder con su alcance; existe un modo presentación para el comité y exportación a PDF y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curva compara mes a mes lo planeado con lo ejecutado. Si la línea real se abre de la planeada, el plan no va a llegar al 30 de noviembre y hay que decidir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campana de la aplicación concentra todo. Preguntar si quieren activar el correo desde el inicio o esperar a que el equipo se acostumbre a la 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de síntesis. Pausa para preguntas antes de los compromisos.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compromisos concretos por líder: quién entrega qué y cuándo. Anotar los nombres en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espacio de preguntas. Recordar los compromisos de la lámina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2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943600" cy="5943600"/>
          </a:xfrm>
          <a:prstGeom prst="ellipse">
            <a:avLst/>
          </a:prstGeom>
          <a:solidFill>
            <a:srgbClr val="1E5FD9">
              <a:alpha val="30000"/>
            </a:srgbClr>
          </a:solidFill>
          <a:ln w="12700">
            <a:solidFill>
              <a:srgbClr val="1E5F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2377440"/>
            <a:ext cx="4206240" cy="4206240"/>
          </a:xfrm>
          <a:prstGeom prst="ellipse">
            <a:avLst/>
          </a:prstGeom>
          <a:solidFill>
            <a:srgbClr val="5B8DEF">
              <a:alpha val="25000"/>
            </a:srgbClr>
          </a:solidFill>
          <a:ln w="12700">
            <a:solidFill>
              <a:srgbClr val="5B8DE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914400"/>
            <a:ext cx="2560320" cy="2560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50876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GOBERNACIÓN DEL MAGDALENA · SECRETARÍA DE SALUD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889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Evaluación de Targets, Resultados e Indicadores para el Cumplimiento de Acciones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 el sistema de seguimiento al Plan de Acción en Salud 2026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con el Despacho y los líderes de área · Septiembre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va a cambiar en el seguimiento del plan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3383280"/>
          </a:xfrm>
          <a:prstGeom prst="roundRect">
            <a:avLst>
              <a:gd name="adj" fmla="val 5263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2337664"/>
            <a:ext cx="399593" cy="3995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200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metas en un Excel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404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acumulado a junio, sin responsable por meta y sin registro mes a mes.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520440" y="1737360"/>
            <a:ext cx="2606040" cy="3383280"/>
          </a:xfrm>
          <a:prstGeom prst="roundRect">
            <a:avLst>
              <a:gd name="adj" fmla="val 5263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840480" y="2103120"/>
            <a:ext cx="868680" cy="8686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024" y="2337664"/>
            <a:ext cx="399593" cy="3995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840480" y="3200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en correos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840480" y="38404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soportes de lo que se ejecuta viven en bandejas y carpetas de cada quien.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0" y="1737360"/>
            <a:ext cx="2606040" cy="3383280"/>
          </a:xfrm>
          <a:prstGeom prst="roundRect">
            <a:avLst>
              <a:gd name="adj" fmla="val 5263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20840" y="2103120"/>
            <a:ext cx="868680" cy="8686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384" y="2337664"/>
            <a:ext cx="399593" cy="3995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3200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vista continua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720840" y="38404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Secretaria conoce el avance cuando alguien lo consolida para un comité.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281160" y="1737360"/>
            <a:ext cx="2606040" cy="3383280"/>
          </a:xfrm>
          <a:prstGeom prst="roundRect">
            <a:avLst>
              <a:gd name="adj" fmla="val 5263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01200" y="2103120"/>
            <a:ext cx="868680" cy="8686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5744" y="2337664"/>
            <a:ext cx="399593" cy="3995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01200" y="32004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invisibles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601200" y="38404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forma de ver qué está haciendo cada persona esta semana.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MÉTRICA cada meta tiene responsable, se reporta cada mes con soporte, y el tablero se actualiza solo.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LA INFORMACIÓN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niveles: área, meta y tarea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46120" cy="1554480"/>
          </a:xfrm>
          <a:prstGeom prst="roundRect">
            <a:avLst>
              <a:gd name="adj" fmla="val 8824"/>
            </a:avLst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o componente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5204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 Pública, Planeación, Prestación, Aseguramiento, Emergencias, Despacho. Salud Pública se divide en 21 componentes, cada uno con su líder.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959352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4434840" y="1783080"/>
            <a:ext cx="3246120" cy="1554480"/>
          </a:xfrm>
          <a:prstGeom prst="roundRect">
            <a:avLst>
              <a:gd name="adj" fmla="val 8824"/>
            </a:avLst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574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434840" y="35204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una de las 276 metas del PAS: qué se debe lograr, cuánto, con qué presupuesto y quién responde por ella.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54112" y="2194560"/>
            <a:ext cx="411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4000" dirty="0"/>
          </a:p>
        </p:txBody>
      </p:sp>
      <p:sp>
        <p:nvSpPr>
          <p:cNvPr id="14" name="Shape 10"/>
          <p:cNvSpPr/>
          <p:nvPr/>
        </p:nvSpPr>
        <p:spPr>
          <a:xfrm>
            <a:off x="8229600" y="1783080"/>
            <a:ext cx="3246120" cy="1554480"/>
          </a:xfrm>
          <a:prstGeom prst="roundRect">
            <a:avLst>
              <a:gd name="adj" fmla="val 8824"/>
            </a:avLst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574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26974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0" y="35204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cada persona para lograr la meta: reuniones, jornadas, visitas, documentos. Con fechas y con soporte al terminar.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" y="5212080"/>
            <a:ext cx="10881360" cy="96012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440680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00200" y="52120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niveles intermedios.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tareas cuelgan directamente de la meta, para que el sistema arranque con el plan real y no con cientos de registros por crear.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CENTRAL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meta tiene dos avances, y el tablero muestra los dos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731520" cy="7315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11775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indicador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se ha logrado de la meta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12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jornadas de vacunación ejecutadas · 67 %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160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alimenta con el reporte mensual del responsable: cuánto se ejecutó y cuánto costó ese mes. Es la cifra que responde al Ministerio.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09360" y="1645920"/>
            <a:ext cx="5257800" cy="3749040"/>
          </a:xfrm>
          <a:prstGeom prst="roundRect">
            <a:avLst>
              <a:gd name="adj" fmla="val 3659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83680" y="1920240"/>
            <a:ext cx="731520" cy="73152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190" y="2117750"/>
            <a:ext cx="336499" cy="33649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49808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operativo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49808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del trabajo planeado se ha hecho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de 30</a:t>
            </a:r>
            <a:endParaRPr lang="en-US" sz="44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3611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finalizadas · 60 %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41605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alimenta cuando el equipo cierra tareas con soporte. Muestra qué está haciendo cada área para llegar a la meta.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los dos números se separan mucho, ahí hay algo que preguntar. Eso es lo que el Excel nunca mostraba.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HACE QUÉ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ve y hace solo lo que le corresponde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029054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de Salud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48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todo el plan, confirma o declina su agenda y deja observaciones directas a las áreas.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56232"/>
            <a:ext cx="640080" cy="6400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342" y="2029054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del Despacho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148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 la agenda de la Secretaria en su nombre. Consulta el resto sin modificarlo.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29718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227832"/>
            <a:ext cx="640080" cy="6400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3400654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área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responsables, corrige reportes con justificación, ve su área y todos sus componentes.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29718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227832"/>
            <a:ext cx="640080" cy="6400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42" y="3400654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1546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de componente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cada mes sus metas y organiza las tareas de su equipo.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43434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599432"/>
            <a:ext cx="640080" cy="6400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22" y="4772254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8308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Funcionario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783080" y="4892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y cierra sus tareas con soporte. Ve las metas de su área.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72200" y="43434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46520" y="4599432"/>
            <a:ext cx="640080" cy="64008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342" y="4772254"/>
            <a:ext cx="294437" cy="29443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1520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315200" y="4892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áreas, usuarios y parámetros. Carga el Excel. No reporta avances.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permisos se heredan hacia abajo: el líder de Salud Pública ve los 21 componentes; el líder de PAI ve solo PAI.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mensual: cinco minutos por meta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2091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Aviso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1 al 4 el sistema recuerda qué metas faltan por reportar. Desde el 6 avisa también al líder.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51460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2011680"/>
            <a:ext cx="731520" cy="73152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830" y="220919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0332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Reporta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33375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responsable registra cuánto se ejecutó y cuánto se invirtió en el mes, con una observación.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51460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750" y="220919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Soporta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3375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Adjunta el soporte si lo tiene: acta, informe, listado, certificado.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737360"/>
            <a:ext cx="2514600" cy="27432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2011680"/>
            <a:ext cx="731520" cy="73152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8670" y="220919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8116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 refleja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281160" y="333756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acumulado, el avance y el semáforo cambian al instante. Si llegó a la meta, queda Cumplida.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SEMÁFORO DE LA META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5120640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640080" y="5120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· va igual o mejor que lo planeado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5120640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251960" y="5120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 · hasta 15 puntos por debajo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7863840" y="5120640"/>
            <a:ext cx="3429000" cy="457200"/>
          </a:xfrm>
          <a:prstGeom prst="roundRect">
            <a:avLst>
              <a:gd name="adj" fmla="val 50000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863840" y="512064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· más atrasada, o venció sin cumplir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640080" y="57150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planeado se calcula solo: la meta se reparte entre los meses hasta el 30 de noviembre. Si una meta no es lineal, el responsable ajusta el calendario.</a:t>
            </a:r>
            <a:endParaRPr lang="en-US" sz="1250" dirty="0"/>
          </a:p>
        </p:txBody>
      </p:sp>
      <p:sp>
        <p:nvSpPr>
          <p:cNvPr id="32" name="Text 26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33" name="Text 27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Tareas: el trabajo del equipo, visible en un calendario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94944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139696" y="1737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3456432" y="1737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16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73168" y="1737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 17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89904" y="1737360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68680" y="2103120"/>
            <a:ext cx="3858768" cy="384048"/>
          </a:xfrm>
          <a:prstGeom prst="roundRect">
            <a:avLst>
              <a:gd name="adj" fmla="val 19048"/>
            </a:avLst>
          </a:prstGeom>
          <a:solidFill>
            <a:srgbClr val="1E5FD9"/>
          </a:solidFill>
          <a:ln w="9525">
            <a:solidFill>
              <a:srgbClr val="1E5F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2103120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de agua · 12 acueductos · En curso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68680" y="2560320"/>
            <a:ext cx="1225296" cy="384048"/>
          </a:xfrm>
          <a:prstGeom prst="roundRect">
            <a:avLst>
              <a:gd name="adj" fmla="val 19048"/>
            </a:avLst>
          </a:prstGeom>
          <a:solidFill>
            <a:srgbClr val="2BB673"/>
          </a:solidFill>
          <a:ln w="9525">
            <a:solidFill>
              <a:srgbClr val="2BB6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25603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PAI · Finalizada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85416" y="3017520"/>
            <a:ext cx="5175504" cy="384048"/>
          </a:xfrm>
          <a:prstGeom prst="roundRect">
            <a:avLst>
              <a:gd name="adj" fmla="val 19048"/>
            </a:avLst>
          </a:prstGeom>
          <a:solidFill>
            <a:srgbClr val="E5484D"/>
          </a:solidFill>
          <a:ln w="9525">
            <a:solidFill>
              <a:srgbClr val="E548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276856" y="3017520"/>
            <a:ext cx="5038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trimestral ETV · Vencida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02152" y="3474720"/>
            <a:ext cx="1225296" cy="384048"/>
          </a:xfrm>
          <a:prstGeom prst="roundRect">
            <a:avLst>
              <a:gd name="adj" fmla="val 19048"/>
            </a:avLst>
          </a:prstGeom>
          <a:solidFill>
            <a:srgbClr val="0B2A5B"/>
          </a:solidFill>
          <a:ln w="9525">
            <a:solidFill>
              <a:srgbClr val="0B2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93592" y="34747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Mesa con EPS · Secretaria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02152" y="3931920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1E5FD9"/>
          </a:solidFill>
          <a:ln w="9525">
            <a:solidFill>
              <a:srgbClr val="1E5F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93592" y="393192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IPS Ciénaga y Fundación · En curso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18888" y="4389120"/>
            <a:ext cx="2542032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0328" y="4389120"/>
            <a:ext cx="2404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RIAS · Programada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35624" y="4846320"/>
            <a:ext cx="1225296" cy="384048"/>
          </a:xfrm>
          <a:prstGeom prst="roundRect">
            <a:avLst>
              <a:gd name="adj" fmla="val 19048"/>
            </a:avLst>
          </a:prstGeom>
          <a:solidFill>
            <a:srgbClr val="FFF4E0"/>
          </a:solidFill>
          <a:ln w="19050">
            <a:solidFill>
              <a:srgbClr val="F5A623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227064" y="4846320"/>
            <a:ext cx="1088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Consejo de gobierno · Pendiente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3949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Gris programada · Azul en curso · Rojo vencida · Verde finalizada · ★ con la Secretaria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55280" y="1600200"/>
            <a:ext cx="548640" cy="54864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3413" y="1748333"/>
            <a:ext cx="252374" cy="25237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641080" y="1581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solos</a:t>
            </a:r>
            <a:endParaRPr lang="en-US" sz="1350" dirty="0"/>
          </a:p>
        </p:txBody>
      </p:sp>
      <p:sp>
        <p:nvSpPr>
          <p:cNvPr id="28" name="Text 25"/>
          <p:cNvSpPr txBox="1"/>
          <p:nvPr/>
        </p:nvSpPr>
        <p:spPr>
          <a:xfrm>
            <a:off x="8641080" y="18745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pasa la fecha y no se cerró, la tarea se pone en rojo sin que nadie la revise.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955280" y="2651760"/>
            <a:ext cx="548640" cy="54864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413" y="2799893"/>
            <a:ext cx="252374" cy="252374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641080" y="2633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con soporte</a:t>
            </a:r>
            <a:endParaRPr lang="en-US" sz="1350" dirty="0"/>
          </a:p>
        </p:txBody>
      </p:sp>
      <p:sp>
        <p:nvSpPr>
          <p:cNvPr id="32" name="Text 28"/>
          <p:cNvSpPr txBox="1"/>
          <p:nvPr/>
        </p:nvSpPr>
        <p:spPr>
          <a:xfrm>
            <a:off x="864108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finalizar hay que adjuntar la evidencia. El líder tiene cinco días para pedir más.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7955280" y="3703320"/>
            <a:ext cx="548640" cy="54864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413" y="3851453"/>
            <a:ext cx="252374" cy="252374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641080" y="3685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por persona</a:t>
            </a:r>
            <a:endParaRPr lang="en-US" sz="1350" dirty="0"/>
          </a:p>
        </p:txBody>
      </p:sp>
      <p:sp>
        <p:nvSpPr>
          <p:cNvPr id="36" name="Text 31"/>
          <p:cNvSpPr txBox="1"/>
          <p:nvPr/>
        </p:nvSpPr>
        <p:spPr>
          <a:xfrm>
            <a:off x="8641080" y="3977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Secretaria y los líderes filtran por área, componente o funcionario y ven qué hace cada uno.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7955280" y="4754880"/>
            <a:ext cx="548640" cy="54864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413" y="4903013"/>
            <a:ext cx="252374" cy="252374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641080" y="4736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hora, es un evento</a:t>
            </a:r>
            <a:endParaRPr lang="en-US" sz="1350" dirty="0"/>
          </a:p>
        </p:txBody>
      </p:sp>
      <p:sp>
        <p:nvSpPr>
          <p:cNvPr id="40" name="Text 34"/>
          <p:cNvSpPr txBox="1"/>
          <p:nvPr/>
        </p:nvSpPr>
        <p:spPr>
          <a:xfrm>
            <a:off x="8641080" y="5029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tarea tiene hora, lugar y recursos, entra a la agenda y el sistema avisa de cruces.</a:t>
            </a:r>
            <a:endParaRPr lang="en-US" sz="1050" dirty="0"/>
          </a:p>
        </p:txBody>
      </p:sp>
      <p:sp>
        <p:nvSpPr>
          <p:cNvPr id="41" name="Text 35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42" name="Text 36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DESPACHO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agenda de la Secretaria nace de las tareas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14600" cy="2834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2091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solicita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3375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crea una tarea marca «requiere presencia de la Secretaria». Llega a su agenda como pendiente.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737360"/>
            <a:ext cx="2514600" cy="2834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2011680"/>
            <a:ext cx="731520" cy="7315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0830" y="220919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0332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 el cruce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33375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ya hay un compromiso confirmado en esa franja, el sistema lo advierte a quien solicita y al Despacho.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514600" cy="2834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750" y="2209190"/>
            <a:ext cx="336499" cy="33649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confirma o declina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3375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Secretaria o su asistente responden. Si se declina, el organizador recibe el motivo.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06840" y="1737360"/>
            <a:ext cx="2514600" cy="28346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2011680"/>
            <a:ext cx="731520" cy="73152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8670" y="2209190"/>
            <a:ext cx="336499" cy="33649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81160" y="29260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prepara la logística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9281160" y="33375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Sala, vehículo, refrigerios, equipos: el consolidado semanal dice qué hace falta.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937760"/>
            <a:ext cx="1088136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276088"/>
            <a:ext cx="502920" cy="5029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645920" y="49377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nunca bloquea un cruce: </a:t>
            </a:r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 y pide confirmar. Y cuando actúa el asistente, la bitácora registra que fue el asistente, no la Secretaria.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PANTALLA DE LA SECRETARIA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responde tres preguntas en un minuto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2376E"/>
          </a:solidFill>
          <a:ln w="12700">
            <a:solidFill>
              <a:srgbClr val="1237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201168" cy="201168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62 %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del plan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66 % planeado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2376E"/>
          </a:solidFill>
          <a:ln w="12700">
            <a:solidFill>
              <a:srgbClr val="1237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1691640"/>
            <a:ext cx="201168" cy="201168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7764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cumplidas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276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2376E"/>
          </a:solidFill>
          <a:ln w="12700">
            <a:solidFill>
              <a:srgbClr val="1237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691640"/>
            <a:ext cx="201168" cy="201168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en rojo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4 áreas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006840" y="14630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12376E"/>
          </a:solidFill>
          <a:ln w="12700">
            <a:solidFill>
              <a:srgbClr val="1237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169164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55480" y="15544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reporte del mes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6 · ETV 5 · otros 8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063240"/>
            <a:ext cx="6766560" cy="3246120"/>
          </a:xfrm>
          <a:prstGeom prst="roundRect">
            <a:avLst>
              <a:gd name="adj" fmla="val 3380"/>
            </a:avLst>
          </a:prstGeom>
          <a:solidFill>
            <a:srgbClr val="12376E"/>
          </a:solidFill>
          <a:ln w="12700">
            <a:solidFill>
              <a:srgbClr val="1237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VAMOS? · AVANCE POR ÁREA, REAL VS. PLANEADO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77240" y="3474720"/>
          <a:ext cx="6492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7635240" y="306324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12376E"/>
          </a:solidFill>
          <a:ln w="12700">
            <a:solidFill>
              <a:srgbClr val="12376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6384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¿DÓNDE ESTÁ EL PROBLEMA?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863840" y="3685032"/>
            <a:ext cx="164592" cy="16459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183880" y="3584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en rojo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183880" y="383133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ordenadas por brecha con lo planeado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863840" y="4215384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183880" y="41148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sin reporte del mes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183880" y="4361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responsable y días de atraso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863840" y="4745736"/>
            <a:ext cx="164592" cy="164592"/>
          </a:xfrm>
          <a:prstGeom prst="ellipse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183880" y="4645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sin atender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183880" y="48920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instrucciones del Despacho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863840" y="5276088"/>
            <a:ext cx="164592" cy="164592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183880" y="5175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vencidas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8183880" y="542239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agrupadas por responsable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863840" y="5806440"/>
            <a:ext cx="164592" cy="16459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183880" y="5705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por encima del avance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8183880" y="595274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se invierte más de lo que se logra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cifra a la instrucción: observaciones del Despacho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14600" cy="2377440"/>
          </a:xfrm>
          <a:prstGeom prst="roundRect">
            <a:avLst>
              <a:gd name="adj" fmla="val 5769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1387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Secretaria ve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tablero, una meta en rojo o una tarea vencida.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514600" cy="2377440"/>
          </a:xfrm>
          <a:prstGeom prst="roundRect">
            <a:avLst>
              <a:gd name="adj" fmla="val 5769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1965960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142" y="213878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0332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la observación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70332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 sobre la meta o la tarea, sin salir del sistema.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514600" cy="2377440"/>
          </a:xfrm>
          <a:prstGeom prst="roundRect">
            <a:avLst>
              <a:gd name="adj" fmla="val 5769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92240" y="1965960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062" y="2138782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Llegan los avisos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responsable y al líder de área. La meta queda marcada «observación pendiente».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06840" y="1691640"/>
            <a:ext cx="2514600" cy="2377440"/>
          </a:xfrm>
          <a:prstGeom prst="roundRect">
            <a:avLst>
              <a:gd name="adj" fmla="val 5769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81160" y="1965960"/>
            <a:ext cx="640080" cy="64008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3982" y="2138782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81160" y="27432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atiende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8116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responsable responde qué hizo y la Secretaria recibe la respuesta.</a:t>
            </a:r>
            <a:endParaRPr lang="en-US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para saber si el plan va a llegar: la curva de avance</a:t>
            </a:r>
            <a:endParaRPr lang="en-US" sz="15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40080" y="4709160"/>
          <a:ext cx="1088136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6" name="Text 19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avisa dentro de la aplicación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3832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594360" cy="5943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877" y="2016709"/>
            <a:ext cx="273406" cy="27340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828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pendiente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167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1 al 4 de cada mes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14400" y="274320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Responsable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600200"/>
            <a:ext cx="33832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1856232"/>
            <a:ext cx="594360" cy="5943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477" y="2016709"/>
            <a:ext cx="273406" cy="27340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03520" y="1828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vencido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5303520" y="2167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día 6 y cada lunes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0" y="274320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0916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Responsable y líder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955280" y="1600200"/>
            <a:ext cx="33832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0" y="1856232"/>
            <a:ext cx="594360" cy="5943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077" y="2016709"/>
            <a:ext cx="273406" cy="27340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961120" y="18288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en rojo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8961120" y="216712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recalcular el semáforo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8229600" y="274320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366760" y="27432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Responsable y líder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640080" y="3520440"/>
            <a:ext cx="33832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" y="3776472"/>
            <a:ext cx="594360" cy="5943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877" y="3936949"/>
            <a:ext cx="273406" cy="273406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45920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cumplida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1645920" y="4087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alcanzar el valor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914400" y="466344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1051560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Responsable, líder y Despacho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297680" y="3520440"/>
            <a:ext cx="33832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72000" y="3776472"/>
            <a:ext cx="594360" cy="5943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477" y="3936949"/>
            <a:ext cx="273406" cy="273406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303520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vencida</a:t>
            </a:r>
            <a:endParaRPr lang="en-US" sz="1450" dirty="0"/>
          </a:p>
        </p:txBody>
      </p:sp>
      <p:sp>
        <p:nvSpPr>
          <p:cNvPr id="36" name="Text 29"/>
          <p:cNvSpPr txBox="1"/>
          <p:nvPr/>
        </p:nvSpPr>
        <p:spPr>
          <a:xfrm>
            <a:off x="5303520" y="4087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siguiente al plazo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4572000" y="466344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709160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Responsable y líder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7955280" y="3520440"/>
            <a:ext cx="338328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229600" y="3776472"/>
            <a:ext cx="594360" cy="594360"/>
          </a:xfrm>
          <a:prstGeom prst="ellipse">
            <a:avLst/>
          </a:prstGeom>
          <a:solidFill>
            <a:srgbClr val="1E5FD9"/>
          </a:solidFill>
          <a:ln w="12700">
            <a:solidFill>
              <a:srgbClr val="1E5FD9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077" y="3936949"/>
            <a:ext cx="273406" cy="273406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961120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solicitada</a:t>
            </a:r>
            <a:endParaRPr lang="en-US" sz="1450" dirty="0"/>
          </a:p>
        </p:txBody>
      </p:sp>
      <p:sp>
        <p:nvSpPr>
          <p:cNvPr id="43" name="Text 35"/>
          <p:cNvSpPr txBox="1"/>
          <p:nvPr/>
        </p:nvSpPr>
        <p:spPr>
          <a:xfrm>
            <a:off x="8961120" y="40873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 tarea en su agenda</a:t>
            </a:r>
            <a:endParaRPr lang="en-US" sz="1050" dirty="0"/>
          </a:p>
        </p:txBody>
      </p:sp>
      <p:sp>
        <p:nvSpPr>
          <p:cNvPr id="44" name="Shape 36"/>
          <p:cNvSpPr/>
          <p:nvPr/>
        </p:nvSpPr>
        <p:spPr>
          <a:xfrm>
            <a:off x="8229600" y="4663440"/>
            <a:ext cx="2834640" cy="347472"/>
          </a:xfrm>
          <a:prstGeom prst="roundRect">
            <a:avLst>
              <a:gd name="adj" fmla="val 50000"/>
            </a:avLst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366760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Secretaria y asistente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640080" y="5532120"/>
            <a:ext cx="10881360" cy="731520"/>
          </a:xfrm>
          <a:prstGeom prst="roundRect">
            <a:avLst>
              <a:gd name="adj" fmla="val 18750"/>
            </a:avLst>
          </a:prstGeom>
          <a:solidFill>
            <a:srgbClr val="E8F0FB"/>
          </a:solidFill>
          <a:ln w="9525">
            <a:solidFill>
              <a:srgbClr val="E8F0FB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733288"/>
            <a:ext cx="347472" cy="347472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1417320" y="55321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correo está apagado por defecto. </a:t>
            </a:r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Secretaría lo decide, el administrador lo activa y elige qué avisos llegan también al correo institucional. Los lunes, resumen semanal para el Despacho y los líderes.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4476" cy="6858000"/>
          </a:xfrm>
          <a:prstGeom prst="rect">
            <a:avLst/>
          </a:prstGeom>
          <a:solidFill>
            <a:srgbClr val="E8F0FB"/>
          </a:solidFill>
          <a:ln w="12700">
            <a:solidFill>
              <a:srgbClr val="E8F0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734556" y="548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MÉTRICA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344168"/>
            <a:ext cx="292608" cy="292608"/>
          </a:xfrm>
          <a:prstGeom prst="ellipse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123444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metas en un Excel con un acumulado a junio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734556" y="1280160"/>
            <a:ext cx="411480" cy="41148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5656" y="1391260"/>
            <a:ext cx="189281" cy="18928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328916" y="123444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 metas con responsable, semáforo y reporte mensual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40080" y="2350008"/>
            <a:ext cx="292608" cy="292608"/>
          </a:xfrm>
          <a:prstGeom prst="ellipse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224028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sabe quién responde por cada meta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734556" y="2286000"/>
            <a:ext cx="411480" cy="41148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656" y="2397100"/>
            <a:ext cx="189281" cy="18928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28916" y="224028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meta tiene un responsable y cada tarea una persona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640080" y="3355848"/>
            <a:ext cx="292608" cy="292608"/>
          </a:xfrm>
          <a:prstGeom prst="ellipse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143000" y="324612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Soportes en correos y carpetas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734556" y="3291840"/>
            <a:ext cx="411480" cy="41148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656" y="3402940"/>
            <a:ext cx="189281" cy="18928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28916" y="324612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adjunta a cada tarea y a cada reporte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40080" y="4361688"/>
            <a:ext cx="292608" cy="292608"/>
          </a:xfrm>
          <a:prstGeom prst="ellipse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143000" y="42519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agenda de la Secretaria se arma aparte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6734556" y="4297680"/>
            <a:ext cx="411480" cy="41148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5656" y="4408780"/>
            <a:ext cx="189281" cy="18928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28916" y="425196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agenda nace de las tareas y avisa los cruces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640080" y="5367528"/>
            <a:ext cx="292608" cy="292608"/>
          </a:xfrm>
          <a:prstGeom prst="ellipse">
            <a:avLst/>
          </a:prstGeom>
          <a:solidFill>
            <a:srgbClr val="D9DEE8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143000" y="525780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Secretaria pregunta para saber cómo va</a:t>
            </a:r>
            <a:endParaRPr lang="en-US" sz="1450" dirty="0"/>
          </a:p>
        </p:txBody>
      </p:sp>
      <p:sp>
        <p:nvSpPr>
          <p:cNvPr id="28" name="Shape 22"/>
          <p:cNvSpPr/>
          <p:nvPr/>
        </p:nvSpPr>
        <p:spPr>
          <a:xfrm>
            <a:off x="6734556" y="5303520"/>
            <a:ext cx="411480" cy="411480"/>
          </a:xfrm>
          <a:prstGeom prst="ellipse">
            <a:avLst/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5656" y="5414620"/>
            <a:ext cx="189281" cy="18928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328916" y="52578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Secretaria lo ve en su tablero y da la instrucción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0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ARRANCAR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necesitamos de cada líder esta semana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56232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22" y="2029054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01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equipo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67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nombres, correos institucionales y rol de cada persona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46520" y="1856232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342" y="2029054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8013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de cada meta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1671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ninguna de las 276 lo tiene asignado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29718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3227832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222" y="3400654"/>
            <a:ext cx="294437" cy="29443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3172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de 87 metas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Salud Pública hay metas sin componente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29718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46520" y="3227832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342" y="3400654"/>
            <a:ext cx="294437" cy="29443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15200" y="3172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metas en 100 % o más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315200" y="3538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cuáles están cumplidas y cuáles tienen error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3434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14400" y="4599432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222" y="4772254"/>
            <a:ext cx="294437" cy="29443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78308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de septiembre a noviembre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1783080" y="49103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3 a 5 por meta para empezar; el resto sobre la marcha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72200" y="4343400"/>
            <a:ext cx="534924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A5B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46520" y="4599432"/>
            <a:ext cx="640080" cy="640080"/>
          </a:xfrm>
          <a:prstGeom prst="ellipse">
            <a:avLst/>
          </a:prstGeom>
          <a:solidFill>
            <a:srgbClr val="0B2A5B"/>
          </a:solidFill>
          <a:ln w="12700">
            <a:solidFill>
              <a:srgbClr val="0B2A5B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342" y="4772254"/>
            <a:ext cx="294437" cy="294437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315200" y="45445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de julio y agosto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7315200" y="49103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ejecutado en esos meses, que no está en el Excel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5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entrega con las 276 metas cargadas desde el Excel actual. Lo demás se completa desde la misma aplicación.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Secretaría de Salud del Magdalena · Sistema de gestión del plan de acción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110916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943600" cy="5943600"/>
          </a:xfrm>
          <a:prstGeom prst="ellipse">
            <a:avLst/>
          </a:prstGeom>
          <a:solidFill>
            <a:srgbClr val="1E5FD9">
              <a:alpha val="30000"/>
            </a:srgbClr>
          </a:solidFill>
          <a:ln w="12700">
            <a:solidFill>
              <a:srgbClr val="1E5F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2194560"/>
            <a:ext cx="4754880" cy="4754880"/>
          </a:xfrm>
          <a:prstGeom prst="ellipse">
            <a:avLst/>
          </a:prstGeom>
          <a:solidFill>
            <a:srgbClr val="5B8DEF">
              <a:alpha val="25000"/>
            </a:srgbClr>
          </a:solidFill>
          <a:ln w="12700">
            <a:solidFill>
              <a:srgbClr val="5B8D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73736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meta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decisión.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023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MÉTRICA: para que la Secretaría de Salud sepa cada mes cómo va cada meta, cada semana qué hace cada equipo, y cada día dónde actuar.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INGNOVATICS Consultores S.A.S. · Septiembre de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del plan de acción – Secretaría de Salud</dc:title>
  <dc:subject>PptxGenJS Presentation</dc:subject>
  <dc:creator>INGNOVATICS Consultores</dc:creator>
  <cp:lastModifiedBy>INGNOVATICS Consultores</cp:lastModifiedBy>
  <cp:revision>1</cp:revision>
  <dcterms:created xsi:type="dcterms:W3CDTF">2026-09-10T17:58:39Z</dcterms:created>
  <dcterms:modified xsi:type="dcterms:W3CDTF">2026-09-10T17:58:39Z</dcterms:modified>
</cp:coreProperties>
</file>